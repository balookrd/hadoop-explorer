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92608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HADOOP EXPLORER PLATFORM • СИСТЕМНАЯ АРХИТЕКТУРА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Hadoop gRPC Replicator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Архитектура развертывания («Что куда ставится») и сетевые потоки («Как ходит трафик»)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3383280" cy="2560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338328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39312"/>
            <a:ext cx="3017520" cy="2231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🏢 Что куда устанавливается?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Control Plane (Orchestrator): Stateless Active-Active кластер (VM / K8s). Порты 8005 (REST/UI) и 50050 (gRPC).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Data Plane (Replicator Agents): устанавливаются в каждом ЦОД на узлы DataNode или Edge/Gateway на Virtual Threads.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Hadoop узлы: NameNode, DataNodes, HMS работают в штатном режиме без плагинов.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74720"/>
            <a:ext cx="3383280" cy="2560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3474720"/>
            <a:ext cx="3383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639312"/>
            <a:ext cx="3017520" cy="2231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🌐 Как ходит трафик данных?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Прямой gRPC WAN стрим: Agent DC1 ➔ Agent DC2 (:50051 HDFS/HMS, :50052 Kafka) минуя Оркестратор!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Оркестратор НЕ качает байты через себя (чистый координатор Control Plane :50050).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Чанки по 4 МБ, Tar-Streaming с Directory Cache NameNode, HMAC аттестация, SHA-256.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474720"/>
            <a:ext cx="3383280" cy="25603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474720"/>
            <a:ext cx="33832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639312"/>
            <a:ext cx="3017520" cy="2231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🛡️ Сеть и Disaster Recovery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В межЦОДном фаерволе открываются ровно два порта: TCP 50051 (HDFS/HMS) и TCP 50052 (Kafka) с mTLS.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Иерархический шейпер Token Bucket с кластерным скейлингом и адаптивным лизингом.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Авария и DR: Fencing Tokens, Kill-Switch (0 МБ/с) и разворот Reverse Replication (DC2 ➔ DC1).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ГЕНЕРАЛЬНАЯ СХЕМА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Архитектура развертывания и потоки трафика (Deployment &amp; Data Flow)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Физическое размещение компонентов в ЦОД, роли узлов, порты фаервола и направления сетевых потоков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eployment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6034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ТОПОЛОГИЯ РАЗМЕЩЕНИЯ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Что куда устанавливается (Component Placement Map)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Детальная спецификация хостов, контейнеров и ролей в инфраструктуре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194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1. Control Plane Host (Orchestrator)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Где работает: Active-Active кластер на VM или Kubernetes Pods.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Процесс: replicator-orchestrator (Java 21 LTS / Spring Boot 3).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Порты: 8005 (REST API, SSE, UI Svelte 5) и 50050 (gRPC Control Plane).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База данных: PostgreSQL с таблицами agent_registry, bandwidth_limits, cluster_lock.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⚠️ Роль: Координация, HMAC аттестация и Fencing Tokens. Файлы через него НЕ идут!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21945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2120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56232"/>
            <a:ext cx="48463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2. ЦОД-1 Узлы (Primary — Москва)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Где работает: Узлы DataNode кластера или выделенные Edge Gateway узлы.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Процесс: replicator-agent-dc1 (Java 21 Virtual Threads / Netty gRPC демон).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Порт: 50051 (gRPC Server, Full-Duplex режим).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Безопасность: Chroot Sandbox путей, неизменяемый krb5.conf, keytab hdfs-cluster-1.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Роль: Анализ Diff, Directory Cache, чтение pod UGI doAs, опрос NOTIFICATION_LOG, стриминг в WAN.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69080"/>
            <a:ext cx="52120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33672"/>
            <a:ext cx="48463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3. ЦОД-2 Узлы (Standby / DR — Санкт-Петербург)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Где работает: Узлы DataNode кластера или Edge Gateway узлы DC2.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Процесс: replicator-agent-dc2 (Java 21 Virtual Threads / Netty gRPC демон).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Порт: 50051 (gRPC Server, Full-Duplex режим).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Безопасность: Chroot Sandbox путей, неизменяемый krb5.conf, keytab hdfs-cluster-2.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Роль: Прием 4 МБ чанков, tarUnpackExecutor, проверка isFileClosed, атомарный rename, DDL в HMS DC2.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069080"/>
            <a:ext cx="52120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8463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4. Рабочие станции инженеров и клиентов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Где работает: Браузер пользователя (Chrome, Safari, Firefox).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Сетевой доступ: HTTPS :8005 к Orchestrator.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Аутентификация: Kerberos SPNEGO SSO в 1 клик или LDAP логин/пароль.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Защита API: BOLA/IDOR проверка владения задачами и постраничная пагинация (page/size).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СЕТЕВАЯ БЕЗОПАСНОСТЬ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Сетевая матрица портов и фаервола (Network Matrix)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Какие порты открываются в межЦОДных межсетевых экранах (WAN) и внутри дата-центров (LAN)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188720"/>
                <a:gridCol w="3962095"/>
                <a:gridCol w="1463040"/>
              </a:tblGrid>
              <a:tr h="33762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Направление трафика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Протокол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Порт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Назначение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6B6D4"/>
                          </a:solidFill>
                        </a:defRPr>
                      </a:pPr>
                      <a:r>
                        <a:t>Сетевой сегмент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DC1 ➔ Agent DC2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gRPC / HTTP/2 (mTLS)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50051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Прямая передача блоков HDFS и DDL пакетов HMS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WAN (МежЦОД)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DC1 ➔ Agent DC2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gRPC / HTTP/2 (mTLS)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50052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Потоковая передача сообщений Kafka и транскодирование схем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WAN (МежЦОД)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DC2 ➔ Agent DC1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gRPC / HTTP/2 (mTLS)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50051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Обратная репликация Reverse Replication в DR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WAN (МежЦОД)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DC2 ➔ Agent DC1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gRPC / HTTP/2 (mTLS)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50052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Обратная репликация топиков Kafka в сценарии DR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WAN (МежЦОД)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Браузер ➔ Orchestrator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HTTPS / HTTP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8005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Доступ к UI Svelte 5, REST API, SSE событиям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Corporate LAN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Agents ➔ Orchestrator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HTTP REST / gRPC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8005 / 50050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Heartbeat, Claim с HMAC аттестацией, координация квот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Management LAN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➔ NameNode (локально)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Hadoop RPC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9000 / 8020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Листинг каталогов, Directory Cache, атомарный rename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DC LAN (Внутри ЦОД)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➔ DataNodes (локально)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Data Transfer Protocol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9866 (SASL)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Прямое чтение и запись блоков HDFS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DC LAN (Внутри ЦОД)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➔ Hive Metastore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Thrift RPC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9083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Чтение NOTIFICATION_LOG (DC1) и применение DDL (DC2)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DC LAN (Внутри ЦОД)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➔ Kafka Brokers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Kafka Protocol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9092 / 9093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Параллельная вычитка (DC1) и запись (DC2) пулами воркеров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DC LAN (Внутри ЦОД)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➔ Schema Registry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HTTP REST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 8081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Кэширование и Single-Flight резолвинг wire-схем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DC LAN (Внутри ЦОД)</a:t>
                      </a:r>
                    </a:p>
                  </a:txBody>
                  <a:tcPr anchor="ctr">
                    <a:solidFill>
                      <a:srgbClr val="161E31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Agent ➔ Kerberos KDC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Kerberos AS/TGS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TCP/UDP 88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Получение тикетов по keytab техучетки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DC LAN (Внутри ЦОД)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HDFS DATA FLOW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Как ходит трафик при репликации файлов HDFS (Пошаговый цикл)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От анализа дельты до атомарного переименования в целевом кластере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5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Шаг 1. Анализ дельты и планирование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1. Воркер в DC1 забирает подзадачу с валидацией HMAC-SHA256 подписи.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2. Запрашивает манифест у NameNode с кэшированием структуры в Directory Cache.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3. Одним gRPC вызовом GetDirectoryManifest запрашивает манифест у Agent DC2.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4. В памяти строится O(N) Diff: неизмененные файлы пропускаются (0 байт WAN!).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2120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56232"/>
            <a:ext cx="48463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Шаг 2. Чтение блоков и упаковка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5. Агент DC1 читает блоки из DataNodes DC1 (:9866) под UGI автора задачи (doAs).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6. Запрашивает разрешение на передачу у Token Bucket шейпера полосы.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7. Файлы &lt; 1 МБ пакуются в Tar-Stream с двухфазным коммитом через ._staging_&lt;jobId&gt;.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8. Файлы &gt;= 1 МБ нарезаются на чанки по 4 МБ со сжатием Zstd/LZ4.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2120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48463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Шаг 3. Прямой gRPC WAN стриминг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9. Агент DC1 стримит чанки НАПРЯМУЮ в Agent DC2 (:50051 Netty Virtual Threads).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10. Никакие байты файлов НЕ проходят через Оркестратор!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11. Потоковое вычисление контрольной суммы SHA-256 на обеих сторонах.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12. Скорость строго удерживается шейпером Token Bucket с кластерной координацией.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977639"/>
            <a:ext cx="52120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42231"/>
            <a:ext cx="48463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Шаг 4. Zero-Staging и фиксация в HDFS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13. Агент DC2 пишет блоки в DataNodes DC2 (:9866), проверяя isFileClosed.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14. Сверка хэша SHA-256: при совпадении вызывается атомарный fs.rename().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15. Для мелких файлов Tar-Stream распаковывается виртуальными потоками tarUnpackExecutor.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16. Агент отправляет рапорты в Orchestrator через debounced буфер JobProgressBuffer.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METADATA DATA FLOW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Как ходит трафик при репликации Hive Metastore (HMS CDC)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Потоковая передача DDL-событий с распределенным лизингом Inotify Lease 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6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1. Захват эксклюзивной аренды (Lease)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Агент DC1 запрашивает аренду схемы: POST /hms/lease/claim (Оркестратор).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Оркестратор выдает токен аренды с монотонным Epoch Fencing (RES-02).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Исключены гонки: ровно один воркер в кластере читает CDC-поток схемы.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При сбое воркера аренда протухает, и другой агент подхватывает стрим.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2120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56232"/>
            <a:ext cx="48463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2. Локальный опрос NOTIFICATION_LOG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Агент DC1 по LAN Thrift :9083 вычитывает события из Hive Metastore DC1.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События: CREATE_TABLE, ADD_PARTITION, ALTER_TABLE, DROP_PARTITION.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Non-ACID Gate: ACID transactional таблицы безопасно пропускаются.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Пакеты событий формируются пачками для минимизации RPC.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2120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48463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3. Передача пакетов DDL по WAN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Агент DC1 передает пачку DDL в Agent DC2 по WAN :50051 (gRPC contract).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Агент DC2 транслирует Federation NameService: hdfs://ns-dc1/ ➔ hdfs://ns-dc2/.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Перелинковка sdLocation на целевой кластер и генерация саб-джобов HDFS.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Изоляция сабтасок: перенос файлов партиций скрыт из основного списка.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977639"/>
            <a:ext cx="52120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42231"/>
            <a:ext cx="48463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4. Применение DDL и подтверждение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Агент DC2 по LAN Thrift :9083 накатывает DDL в Hive Metastore DC2 с Ranger UGI doAs.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Безопасность: при DROP_TABLE флаг deleteData=false (файлы не стираются!).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Агент DC2 подтверждает накат ➔ Агент DC1 рапортует прогресс в Orchestrator.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Фиксация last_processed_event_id: позиция гарантированно сохранена.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KAFKA DATA FLOW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Как ходит трафик при репликации Apache Kafka (Kafka Streaming Data Plane)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Multi-Agent Partition-Pinned балансировка, Zero-Copy wire-транскодинг и At-Least-Once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7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463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1. Multi-Agent Partition-Pinned &amp; Balancer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KafkaTargetBalancer распределяет партиции: hash(topic, partition) % active_agents.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Каждая партиция строго привязана к агенту — гарантия сохранения порядка сообщений.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Динамический резолвинг брокеров по clusterId через TopologyRegistry (без хардкода DC1/DC2).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Карантин агентов: при сетевом сбое агент изолируется на 10 сек с ребалансировкой.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214884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2120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56232"/>
            <a:ext cx="48463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2. Consumer Pool и адаптивный параллелизм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Линейный параллелизм без потолка 40G: targetThreads = max(64, ceil(BW / 30)) (до 667+ потоков).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Защитный потолок &lt;= 32 потоков на JVM агента от сокетного и процессорного истощения.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Микробатчи до 50 000 сообщений (до 16 МБ) для сверхвысоких скоростей 100G/200G/400G+.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Kerberos SASL_PLAINTEXT / SASL_SSL аутентификация в брокерах источников (:9092/:9093).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2120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48463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3. gRPC WAN стриминг и Backpressure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Агент источника передает батчи в Agent приемника по WAN :50052 (KafkaDataTransferService).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Согласование полосы: min(wanQuota, sum(agentLimit)) без моделирования физики хостов.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Изоляция брокерного ISR: локальная репликация (2x25G) не влияет на межЦОДный WAN.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Двусторонний Backpressure: disableAutoInboundFlowControl + лимит inFlightBatches.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977639"/>
            <a:ext cx="52120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42231"/>
            <a:ext cx="48463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4. Zero-Copy Transcoding и запись в DC2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Zero-Copy Wire Transcoder (PERF-02): замена Confluent Schema ID без перекодирования payload.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Single-Flight Schema Resolution: Lock-Free кэш защищает Schema Registry :8081.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KafkaBatchProducer публикует сообщения в брокеры DC2 на виртуальных потоках Java 21.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At-Least-Once: коммит оффсета в источнике ТОЛЬКО после сквозного gRPC KafkaBatchAck.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DISASTER RECOVERY TRAFFIC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Потоки трафика в Disaster Recovery: Штатно vs Kill-Switch vs Reverse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Как ведет себя сеть при аварии основного ЦОД и как разворачивается поток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8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43891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83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1752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1. Штатный режим (DC1 ➔ DC2)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Трафик клиентов: Направлен на DC1.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Data Plane WAN: Поток идет от Agent DC1 в Agent DC2 (:50051/:50052).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Шейпер: Лимит 100 МБ/с с адаптивным лизингом и кластерным скейлингом.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HMS CDC &amp; Kafka: Стриминг дельты и топиков в DC2 под Epoch Fencing.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DC2 выступает пассивным Standby-приемником.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43891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3832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56232"/>
            <a:ext cx="301752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2. Авария DC1 и Kill-Switch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Событие: DC1 упал. Клиенты переключены на DC2.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Действие оператора: Нажатие 🛑 Kill-Switch.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Fencing Tokens: Монотонный токен эпохи в DistributedLockService.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WAN сетевой барьер: Лимит канала ➔ 0 МБ/с (Fencing).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Задачи: Остановка прямых задач (STOPPED, Cron OFF, пауза Kafka).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Защита от Split-Brain: При оживании DC1 старые задачи НЕ запустятся!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383280" cy="43891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3832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56232"/>
            <a:ext cx="301752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3. Оживание DC1 и Reverse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Unfence: Снятие изоляции открывает сеть (100 МБ/с), задачи остаются STOPPED.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Reverse Replication: Нажатие 🔄 Reverse Replication.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РАЗВОРОТ ТРАФИКА: Agent DC2 становится Sender ➔ Agent DC1 (:50051/:50052).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Догон дельты: DC2 выкачивает файлы, схемы и топики обратно в DC1 до RPO=0.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Failback: Возврат клиентов на DC1, отзыв зеркал.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ИНТЕРФЕЙС ОПЕРАТОРА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Топология ЦОД и управление полосой WAN в интерфейсе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Рантайм-управление квотами пропускной способности без перезапуска воркеров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9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topology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64792"/>
            <a:ext cx="6711696" cy="41948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Консоль «Топология ЦОД и Полоса»: шейпер Token Bucket (DC-DC, HDFS-HDFS, Global)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91640"/>
            <a:ext cx="3657600" cy="43891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6576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856232"/>
            <a:ext cx="329184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⚡ Физика шейпинга в Data Plane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Где работает: Внутри процесса каждого Replicator Agent перед отправкой 4 МБ чанка.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Как работает: Вычисление задержки по формуле max(global, dc_dc, hdfs_hdfs).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Реакция на мутацию: Оператор нажимает «Сохранить» в UI ➔ Оркестратор пушит лимит в кэш ➔ воркеры применяют за &lt; 1 сек.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Защита WAN: Ни при каких обстоятельствах суммарный трафик репликации не превысит установленный потолок.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ИНТЕРФЕЙС ОПЕРАТОРА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Главная панель управления HDFS и создание задач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Мониторинг скорости в реальном времени (⚡ МБ/с), расчет ETA и Kerberos doAs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10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ma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64792"/>
            <a:ext cx="5065776" cy="31661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Главная панель HDFS Replication: статус задач, скорость (⚡), ETA и фильтры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create_job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64792"/>
            <a:ext cx="5065776" cy="31661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064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Мастер создания задачи: пути, расписание Cron, UGI doAs имперсонация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ИНТЕРФЕЙС ОПЕРАТОРА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Консоль репликации Hive Metastore (HMS Replication)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Мониторинг стримеров CDC, Event Lag и мастер создания схемы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11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hms_replic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64792"/>
            <a:ext cx="5065776" cy="31661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Консоль HMS Replication: статус CDC-стримеров, Event Lag и список схем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create_hms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64792"/>
            <a:ext cx="5065776" cy="31661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064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Мастер создания схемы: выбор баз, фильтр таблиц, Reconciliation опции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ИНТЕРФЕЙС DISASTER RECOVERY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DR Hub, экстренный Kill-Switch и состояние сетевого ограждения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Интуитивный интерфейс дежурной смены при аварии дата-центра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12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669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disaster_recove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64792"/>
            <a:ext cx="5522976" cy="34518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Консоль DR &amp; Failover Hub: доступность ЦОД, направление потока и суммарный лаг дельты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91640"/>
            <a:ext cx="47548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emergency_kill_switch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764792"/>
            <a:ext cx="4608576" cy="2880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35204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Модальное окно Kill-Switch: подтверждение останова и сетевое ограждение (0 МБ/с)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977639"/>
            <a:ext cx="475488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_disaster_recovery_fenced_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050791"/>
            <a:ext cx="4608576" cy="2880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75120" y="5806439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Индикация подавленного кластера: бейдж «ПОДАВЛЕН 🔒» и тревожный баннер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ИНТЕРФЕЙС DISASTER RECOVERY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Безопасный откат (Unfence) и запуск Reverse Replication (DC2 ➔ DC1)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Восстановление сети без перезаписи резерва и автоматический разворот потока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13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rollback_unfence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64792"/>
            <a:ext cx="5065776" cy="31661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Модальное окно Unfence: снятие сетевого барьера без запуска старых задач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_reverse_replication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64792"/>
            <a:ext cx="5065776" cy="31661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064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i="1">
                <a:solidFill>
                  <a:srgbClr val="94A3B8"/>
                </a:solidFill>
              </a:defRPr>
            </a:pPr>
            <a:r>
              <a:t>Мастер Reverse Replication: разворот потока данных DC2 ➔ DC1 с подтверждением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ВНЕДРЕНИЕ В PRODUCTION</a:t>
            </a:r>
          </a:p>
          <a:p>
            <a:pPr>
              <a:spcAft>
                <a:spcPts val="300"/>
              </a:spcAft>
              <a:defRPr sz="2100" b="1">
                <a:solidFill>
                  <a:srgbClr val="F8FAFC"/>
                </a:solidFill>
              </a:defRPr>
            </a:pPr>
            <a:r>
              <a:t>Рекомендации по сайзингу, развертыванию и фаерволу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Оптимальные архитектурные конфигурации для промышленного внедрения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Hadoop Explorer Platform • Архитектура развертывания и сетевой трафик</a:t>
            </a:r>
          </a:p>
          <a:p>
            <a:pPr algn="r">
              <a:defRPr sz="900" b="1">
                <a:solidFill>
                  <a:srgbClr val="06B6D4"/>
                </a:solidFill>
              </a:defRPr>
            </a:pPr>
            <a:r>
              <a:t>14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43891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338328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1752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🖥️ Сайзинг Orchestrator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Размещение: Выделенная VM или Kubernetes Pods (Active-Active).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CPU: 4–8 vCPU (Java 21 Virtual Threads).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RAM: 8–16 GB Heap.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Диск: 50–100 GB NVMe (PostgreSQL: agent_registry, bandwidth_limits, locks).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Сеть: 1 Gbps LAN (REST :8005 + gRPC :50050).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High Availability: Active-Active кластер с Fencing Tokens и общим пулом агентов.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43891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3832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56232"/>
            <a:ext cx="301752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⚡ Сайзинг Replicator Agents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HDFS/HMS Colocated: 4 vCPU, 8 GB Heap (DataNode, Short-Circuit read).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HDFS/HMS Dedicated: 8–16 vCPU, 16–32 GB RAM (Edge Gateway 25G/40G/100G+).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Kafka Colocated: 2–4 vCPU, 4–8 GB Heap (на брокерах, 200k–400k msg/s).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Kafka Dedicated: 8–16 vCPU, 16–32 GB RAM (до 1M+ msg/s на Virtual Threads).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Сеть и скейлинг: 10G/25G/40G/100G+ NIC, адаптивный параллелизм до 667+ потоков.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Физика хоста: брокерный ISR (2x25G) изолирован, учет явного лимита процесса.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383280" cy="438912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38328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56232"/>
            <a:ext cx="3017520" cy="4059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🛡️ Чеклист фаервола и ИБ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WAN межЦОД: Открыть TCP 50051 (HDFS/HMS) и TCP 50052 (Kafka) с mTLS.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HMAC аттестация: SHA-256 подпись задач (TaskAttestationValidator).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Chroot Sandbox: Защита локальных путей (validateSandboxAccess).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Kerberos: Защита JVM krb5.conf и keytab с UGI Proxy doAs.</a:t>
            </a:r>
          </a:p>
          <a:p>
            <a:pPr>
              <a:spcAft>
                <a:spcPts val="400"/>
              </a:spcAft>
              <a:defRPr sz="980">
                <a:solidFill>
                  <a:srgbClr val="94A3B8"/>
                </a:solidFill>
              </a:defRPr>
            </a:pPr>
            <a:r>
              <a:t>• Ranger &amp; BOLA: Контроль политик и проверка прав владения в REST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